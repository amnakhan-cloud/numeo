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66" r:id="rId8"/>
    <p:sldId id="265" r:id="rId9"/>
    <p:sldId id="263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mbdatest.com/blog/how-to-decide-what-should-be-automated-when-you-cannot-test-everythin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lambdatest.com/blog/24-testing-scenarios-you-should-not-automate-using-seleniu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mbdatest.com/learning-hub/integration-testing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www.lambdatest.com/learning-hub/unit-testing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hyperlink" Target="https://www.lambdatest.com/learning-hub/user-acceptance-testing" TargetMode="External"/><Relationship Id="rId4" Type="http://schemas.openxmlformats.org/officeDocument/2006/relationships/hyperlink" Target="https://www.lambdatest.com/learning-hub/system-testin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223" y="1254034"/>
            <a:ext cx="10746377" cy="342246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Automation Testing strategy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474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rush Script MT" panose="03060802040406070304" pitchFamily="66" charset="0"/>
              </a:rPr>
              <a:t>Automation defines how, when , why, who and where create test scripts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Brush Script MT" panose="03060802040406070304" pitchFamily="66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0" y="365760"/>
            <a:ext cx="4876800" cy="6077376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Why we automate</a:t>
            </a:r>
          </a:p>
          <a:p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Higher return on investment(ROI)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Planned as team to reduce cost , effort and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Deliver software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Improve QA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Handle allots of data and repetitive task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Customer fast release with hotfixes</a:t>
            </a:r>
          </a:p>
          <a:p>
            <a:endParaRPr lang="en-US" dirty="0"/>
          </a:p>
        </p:txBody>
      </p:sp>
      <p:sp>
        <p:nvSpPr>
          <p:cNvPr id="5" name="AutoShape 2" descr="Women Thinking Head Icon Girl Thinking"/>
          <p:cNvSpPr>
            <a:spLocks noChangeAspect="1" noChangeArrowheads="1"/>
          </p:cNvSpPr>
          <p:nvPr/>
        </p:nvSpPr>
        <p:spPr bwMode="auto">
          <a:xfrm flipH="1" flipV="1">
            <a:off x="460375" y="160338"/>
            <a:ext cx="2030276" cy="203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Picture Placeholder 2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18" b="30618"/>
          <a:stretch>
            <a:fillRect/>
          </a:stretch>
        </p:blipFill>
        <p:spPr>
          <a:xfrm>
            <a:off x="6754768" y="1149946"/>
            <a:ext cx="4760089" cy="2081349"/>
          </a:xfrm>
        </p:spPr>
      </p:pic>
    </p:spTree>
    <p:extLst>
      <p:ext uri="{BB962C8B-B14F-4D97-AF65-F5344CB8AC3E}">
        <p14:creationId xmlns:p14="http://schemas.microsoft.com/office/powerpoint/2010/main" val="245631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377" y="2316480"/>
            <a:ext cx="12052663" cy="101019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Feasibility Analysis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04" b="26804"/>
          <a:stretch>
            <a:fillRect/>
          </a:stretch>
        </p:blipFill>
        <p:spPr>
          <a:xfrm>
            <a:off x="1262743" y="178370"/>
            <a:ext cx="9738216" cy="252999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2549" y="3526971"/>
            <a:ext cx="11721737" cy="303929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D</a:t>
            </a:r>
            <a:r>
              <a:rPr lang="en-US" dirty="0" smtClean="0">
                <a:latin typeface="Comic Sans MS" panose="030F0702030302020204" pitchFamily="66" charset="0"/>
              </a:rPr>
              <a:t>etermine</a:t>
            </a:r>
            <a:r>
              <a:rPr lang="en-US" u="sng" dirty="0">
                <a:latin typeface="Comic Sans MS" panose="030F0702030302020204" pitchFamily="66" charset="0"/>
              </a:rPr>
              <a:t> </a:t>
            </a:r>
            <a:r>
              <a:rPr lang="en-US" u="sng" dirty="0">
                <a:latin typeface="Comic Sans MS" panose="030F0702030302020204" pitchFamily="66" charset="0"/>
                <a:hlinkClick r:id="rId3"/>
              </a:rPr>
              <a:t>which tasks can be automated</a:t>
            </a:r>
            <a:r>
              <a:rPr lang="en-US" u="sng" dirty="0">
                <a:latin typeface="Comic Sans MS" panose="030F0702030302020204" pitchFamily="66" charset="0"/>
              </a:rPr>
              <a:t> </a:t>
            </a:r>
            <a:r>
              <a:rPr lang="en-US" dirty="0">
                <a:latin typeface="Comic Sans MS" panose="030F0702030302020204" pitchFamily="66" charset="0"/>
              </a:rPr>
              <a:t>and which </a:t>
            </a:r>
            <a:r>
              <a:rPr lang="en-US" dirty="0">
                <a:latin typeface="Comic Sans MS" panose="030F0702030302020204" pitchFamily="66" charset="0"/>
                <a:hlinkClick r:id="rId4"/>
              </a:rPr>
              <a:t>testing scenario you should not automate</a:t>
            </a:r>
            <a:r>
              <a:rPr lang="en-US" dirty="0" smtClean="0"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omic Sans MS" panose="030F0702030302020204" pitchFamily="66" charset="0"/>
              </a:rPr>
              <a:t> We can </a:t>
            </a:r>
            <a:r>
              <a:rPr lang="en-US" dirty="0">
                <a:latin typeface="Comic Sans MS" panose="030F0702030302020204" pitchFamily="66" charset="0"/>
              </a:rPr>
              <a:t>consider the following aspects to automate </a:t>
            </a:r>
            <a:r>
              <a:rPr lang="en-US" dirty="0" smtClean="0">
                <a:latin typeface="Comic Sans MS" panose="030F0702030302020204" pitchFamily="66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Repetitive test cases such as login and entering OTPs, captcha.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anose="030F0702030302020204" pitchFamily="66" charset="0"/>
              </a:rPr>
              <a:t>Process </a:t>
            </a:r>
            <a:r>
              <a:rPr lang="en-US" dirty="0">
                <a:latin typeface="Comic Sans MS" panose="030F0702030302020204" pitchFamily="66" charset="0"/>
              </a:rPr>
              <a:t>working on multiple inputs, such as filling forms to test </a:t>
            </a:r>
            <a:r>
              <a:rPr lang="en-US" dirty="0" smtClean="0">
                <a:latin typeface="Comic Sans MS" panose="030F0702030302020204" pitchFamily="66" charset="0"/>
              </a:rPr>
              <a:t>validations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Tasks that are time-consuming and difficult to test manually.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anose="030F0702030302020204" pitchFamily="66" charset="0"/>
              </a:rPr>
              <a:t>Cross browser testing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F</a:t>
            </a:r>
            <a:r>
              <a:rPr lang="en-US" dirty="0" smtClean="0">
                <a:latin typeface="Comic Sans MS" panose="030F0702030302020204" pitchFamily="66" charset="0"/>
              </a:rPr>
              <a:t>ind</a:t>
            </a:r>
            <a:r>
              <a:rPr lang="en-US" dirty="0">
                <a:latin typeface="Comic Sans MS" panose="030F0702030302020204" pitchFamily="66" charset="0"/>
              </a:rPr>
              <a:t>, communicate, and audit the risks, defects, and even the capabilities of the software being </a:t>
            </a:r>
            <a:r>
              <a:rPr lang="en-US" dirty="0" smtClean="0">
                <a:latin typeface="Comic Sans MS" panose="030F0702030302020204" pitchFamily="66" charset="0"/>
              </a:rPr>
              <a:t>tested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Prioritize the </a:t>
            </a:r>
            <a:r>
              <a:rPr lang="en-US" dirty="0" smtClean="0">
                <a:latin typeface="Comic Sans MS" panose="030F0702030302020204" pitchFamily="66" charset="0"/>
              </a:rPr>
              <a:t>components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42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162" y="84667"/>
            <a:ext cx="10780776" cy="613283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Who automate and selection of tool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7" r="20847"/>
          <a:stretch>
            <a:fillRect/>
          </a:stretch>
        </p:blipFill>
        <p:spPr>
          <a:xfrm rot="1072717">
            <a:off x="7684485" y="1467039"/>
            <a:ext cx="3846803" cy="4396564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0162" y="887506"/>
            <a:ext cx="6817838" cy="555562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Manual tester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Automation engineer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Comic Sans MS" panose="030F0702030302020204" pitchFamily="66" charset="0"/>
              </a:rPr>
              <a:t>Mixture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Comic Sans MS" panose="030F0702030302020204" pitchFamily="66" charset="0"/>
              </a:rPr>
              <a:t>Go with +1 sprint strategy for automation</a:t>
            </a:r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/>
          </a:p>
          <a:p>
            <a:r>
              <a:rPr lang="en-US" b="1" dirty="0">
                <a:latin typeface="Comic Sans MS" panose="030F0702030302020204" pitchFamily="66" charset="0"/>
              </a:rPr>
              <a:t>Above all MCP server</a:t>
            </a:r>
            <a:r>
              <a:rPr lang="en-US" b="1" dirty="0" smtClean="0">
                <a:latin typeface="Comic Sans MS" panose="030F0702030302020204" pitchFamily="66" charset="0"/>
              </a:rPr>
              <a:t>, AI </a:t>
            </a:r>
            <a:r>
              <a:rPr lang="en-US" b="1" dirty="0">
                <a:latin typeface="Comic Sans MS" panose="030F0702030302020204" pitchFamily="66" charset="0"/>
              </a:rPr>
              <a:t>Agents</a:t>
            </a:r>
            <a:r>
              <a:rPr lang="en-US" b="1" dirty="0" smtClean="0">
                <a:latin typeface="Comic Sans MS" panose="030F0702030302020204" pitchFamily="66" charset="0"/>
              </a:rPr>
              <a:t>, </a:t>
            </a:r>
            <a:r>
              <a:rPr lang="en-US" b="1" dirty="0" err="1" smtClean="0">
                <a:latin typeface="Comic Sans MS" panose="030F0702030302020204" pitchFamily="66" charset="0"/>
              </a:rPr>
              <a:t>Langchain</a:t>
            </a:r>
            <a:r>
              <a:rPr lang="en-US" b="1" dirty="0" smtClean="0">
                <a:latin typeface="Comic Sans MS" panose="030F0702030302020204" pitchFamily="66" charset="0"/>
              </a:rPr>
              <a:t> reduce </a:t>
            </a:r>
            <a:r>
              <a:rPr lang="en-US" b="1" dirty="0">
                <a:latin typeface="Comic Sans MS" panose="030F0702030302020204" pitchFamily="66" charset="0"/>
              </a:rPr>
              <a:t>cost and effort to maintain automation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omic Sans MS" panose="030F0702030302020204" pitchFamily="66" charset="0"/>
              </a:rPr>
              <a:t>Playwright </a:t>
            </a:r>
            <a:r>
              <a:rPr lang="en-US" dirty="0">
                <a:latin typeface="Comic Sans MS" panose="030F0702030302020204" pitchFamily="66" charset="0"/>
              </a:rPr>
              <a:t>		</a:t>
            </a:r>
            <a:endParaRPr lang="en-US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Cypress</a:t>
            </a:r>
            <a:endParaRPr lang="en-US" sz="16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Selenium</a:t>
            </a:r>
            <a:r>
              <a:rPr lang="en-US" sz="1600" dirty="0">
                <a:latin typeface="Comic Sans MS" panose="030F0702030302020204" pitchFamily="66" charset="0"/>
              </a:rPr>
              <a:t>		</a:t>
            </a:r>
            <a:endParaRPr lang="en-US" sz="1600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Appium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Comic Sans MS" panose="030F0702030302020204" pitchFamily="66" charset="0"/>
              </a:rPr>
              <a:t>XcuiTest</a:t>
            </a:r>
            <a:r>
              <a:rPr lang="en-US" sz="1600" dirty="0" smtClean="0">
                <a:latin typeface="Comic Sans MS" panose="030F0702030302020204" pitchFamily="66" charset="0"/>
              </a:rPr>
              <a:t> </a:t>
            </a:r>
            <a:r>
              <a:rPr lang="en-US" sz="1600" dirty="0">
                <a:latin typeface="Comic Sans MS" panose="030F0702030302020204" pitchFamily="66" charset="0"/>
              </a:rPr>
              <a:t>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mic Sans MS" panose="030F0702030302020204" pitchFamily="66" charset="0"/>
              </a:rPr>
              <a:t>R</a:t>
            </a:r>
            <a:r>
              <a:rPr lang="en-US" sz="1600" dirty="0" err="1" smtClean="0">
                <a:latin typeface="Comic Sans MS" panose="030F0702030302020204" pitchFamily="66" charset="0"/>
              </a:rPr>
              <a:t>estAssured</a:t>
            </a:r>
            <a:endParaRPr lang="en-US" sz="16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Karate</a:t>
            </a:r>
            <a:r>
              <a:rPr lang="en-US" sz="1600" dirty="0">
                <a:latin typeface="Comic Sans MS" panose="030F0702030302020204" pitchFamily="66" charset="0"/>
              </a:rPr>
              <a:t>		</a:t>
            </a:r>
            <a:endParaRPr lang="en-US" sz="1600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Postman</a:t>
            </a:r>
            <a:endParaRPr lang="en-US" sz="16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Comic Sans MS" panose="030F0702030302020204" pitchFamily="66" charset="0"/>
              </a:rPr>
              <a:t>Jmeter</a:t>
            </a:r>
            <a:r>
              <a:rPr lang="en-US" sz="1600" dirty="0">
                <a:latin typeface="Comic Sans MS" panose="030F0702030302020204" pitchFamily="66" charset="0"/>
              </a:rPr>
              <a:t>	  	</a:t>
            </a:r>
            <a:endParaRPr lang="en-US" sz="1600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Gatling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Comic Sans MS" panose="030F0702030302020204" pitchFamily="66" charset="0"/>
              </a:rPr>
              <a:t>Testim</a:t>
            </a:r>
            <a:endParaRPr lang="en-US" sz="1600" dirty="0">
              <a:latin typeface="Comic Sans MS" panose="030F0702030302020204" pitchFamily="66" charset="0"/>
            </a:endParaRP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050" y="3735976"/>
            <a:ext cx="3574869" cy="201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0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Types/Level of testing 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762000" y="761999"/>
            <a:ext cx="6648994" cy="5752011"/>
          </a:xfrm>
        </p:spPr>
        <p:txBody>
          <a:bodyPr/>
          <a:lstStyle/>
          <a:p>
            <a:r>
              <a:rPr lang="en-US" b="1" dirty="0" smtClean="0">
                <a:latin typeface="Comic Sans MS" panose="030F0702030302020204" pitchFamily="66" charset="0"/>
              </a:rPr>
              <a:t>Coverage/Techniques/Types of testing</a:t>
            </a:r>
          </a:p>
          <a:p>
            <a:endParaRPr lang="en-US" sz="1600" b="1" dirty="0">
              <a:latin typeface="Comic Sans MS" panose="030F0702030302020204" pitchFamily="66" charset="0"/>
            </a:endParaRPr>
          </a:p>
          <a:p>
            <a:r>
              <a:rPr lang="en-US" sz="1600" dirty="0" smtClean="0">
                <a:latin typeface="Comic Sans MS" panose="030F0702030302020204" pitchFamily="66" charset="0"/>
              </a:rPr>
              <a:t>1.Equilvalence</a:t>
            </a:r>
            <a:r>
              <a:rPr lang="en-US" sz="1600" dirty="0">
                <a:latin typeface="Comic Sans MS" panose="030F0702030302020204" pitchFamily="66" charset="0"/>
              </a:rPr>
              <a:t> </a:t>
            </a:r>
            <a:r>
              <a:rPr lang="en-US" sz="1600" dirty="0" smtClean="0">
                <a:latin typeface="Comic Sans MS" panose="030F0702030302020204" pitchFamily="66" charset="0"/>
              </a:rPr>
              <a:t>Class Portioning</a:t>
            </a:r>
          </a:p>
          <a:p>
            <a:r>
              <a:rPr lang="en-US" sz="1600" dirty="0" smtClean="0">
                <a:latin typeface="Comic Sans MS" panose="030F0702030302020204" pitchFamily="66" charset="0"/>
              </a:rPr>
              <a:t>2. Boundary value analyses</a:t>
            </a:r>
          </a:p>
          <a:p>
            <a:r>
              <a:rPr lang="en-US" sz="1600" dirty="0" smtClean="0">
                <a:latin typeface="Comic Sans MS" panose="030F0702030302020204" pitchFamily="66" charset="0"/>
              </a:rPr>
              <a:t>3.State Transitions</a:t>
            </a:r>
          </a:p>
          <a:p>
            <a:endParaRPr lang="en-US" sz="1600" dirty="0" smtClean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>
                <a:latin typeface="Comic Sans MS" panose="030F0702030302020204" pitchFamily="66" charset="0"/>
              </a:rPr>
              <a:t>1.Functional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>
                <a:latin typeface="Comic Sans MS" panose="030F0702030302020204" pitchFamily="66" charset="0"/>
              </a:rPr>
              <a:t>2.Non functional </a:t>
            </a:r>
          </a:p>
          <a:p>
            <a:endParaRPr lang="en-US" sz="1600" dirty="0" smtClean="0">
              <a:latin typeface="Comic Sans MS" panose="030F0702030302020204" pitchFamily="66" charset="0"/>
            </a:endParaRPr>
          </a:p>
          <a:p>
            <a:endParaRPr lang="en-US" sz="1600" dirty="0">
              <a:latin typeface="Comic Sans MS" panose="030F0702030302020204" pitchFamily="66" charset="0"/>
            </a:endParaRPr>
          </a:p>
          <a:p>
            <a:endParaRPr lang="en-US" sz="1600" dirty="0" smtClean="0">
              <a:latin typeface="Comic Sans MS" panose="030F0702030302020204" pitchFamily="66" charset="0"/>
            </a:endParaRP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2"/>
              </a:rPr>
              <a:t>Unit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2"/>
              </a:rPr>
              <a:t>testing</a:t>
            </a:r>
            <a:endParaRPr lang="en-US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Component testing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3"/>
              </a:rPr>
              <a:t>Integration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3"/>
              </a:rPr>
              <a:t>testing</a:t>
            </a:r>
            <a:endParaRPr lang="en-US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4"/>
              </a:rPr>
              <a:t>System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4"/>
              </a:rPr>
              <a:t>testing</a:t>
            </a:r>
            <a:endParaRPr lang="en-US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5"/>
              </a:rPr>
              <a:t>Acceptance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5"/>
              </a:rPr>
              <a:t>testing</a:t>
            </a:r>
            <a:endParaRPr lang="en-US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Alpha Testing</a:t>
            </a:r>
          </a:p>
          <a:p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Beta Testing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039" y="4617904"/>
            <a:ext cx="2959926" cy="15085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982" y="338804"/>
            <a:ext cx="2661984" cy="17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6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Test Design and execution 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40000" lnSpcReduction="20000"/>
          </a:bodyPr>
          <a:lstStyle/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Prioritize the test and designed accordingly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Execute test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Traceability matrixes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Test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Defect 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Flaky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Test wear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Improvements and keep update with test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Comic Sans MS" panose="030F0702030302020204" pitchFamily="66" charset="0"/>
              </a:rPr>
              <a:t>Clean code use Sonar Cube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6824"/>
            <a:ext cx="7575176" cy="449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9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162" y="84667"/>
            <a:ext cx="10780776" cy="613283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Test Environments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7" r="20847"/>
          <a:stretch>
            <a:fillRect/>
          </a:stretch>
        </p:blipFill>
        <p:spPr>
          <a:xfrm rot="1072717">
            <a:off x="7684485" y="1467039"/>
            <a:ext cx="3846803" cy="4396564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519952" y="878542"/>
            <a:ext cx="6338047" cy="5564594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QA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Production</a:t>
            </a:r>
          </a:p>
          <a:p>
            <a:endParaRPr lang="en-US" sz="2000" dirty="0" smtClean="0">
              <a:latin typeface="Comic Sans MS" panose="030F0702030302020204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hardware or basic software </a:t>
            </a:r>
            <a:r>
              <a:rPr lang="en-US" sz="1600" dirty="0" smtClean="0">
                <a:latin typeface="Comic Sans MS" panose="030F0702030302020204" pitchFamily="66" charset="0"/>
              </a:rPr>
              <a:t>set-ups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omic Sans MS" panose="030F0702030302020204" pitchFamily="66" charset="0"/>
              </a:rPr>
              <a:t>Setup of drivers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omic Sans MS" panose="030F0702030302020204" pitchFamily="66" charset="0"/>
              </a:rPr>
              <a:t>Network connections</a:t>
            </a:r>
          </a:p>
          <a:p>
            <a:endParaRPr lang="en-US" sz="2000" dirty="0" smtClean="0">
              <a:latin typeface="Comic Sans MS" panose="030F0702030302020204" pitchFamily="66" charset="0"/>
            </a:endParaRPr>
          </a:p>
          <a:p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72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5463" y="542282"/>
            <a:ext cx="3859221" cy="598541"/>
          </a:xfrm>
        </p:spPr>
        <p:txBody>
          <a:bodyPr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Release </a:t>
            </a: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Control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&amp; CI/CD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921" y="1802674"/>
            <a:ext cx="6183086" cy="3091543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553" y="1323703"/>
            <a:ext cx="3889039" cy="5534297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proper </a:t>
            </a:r>
            <a:r>
              <a:rPr lang="en-US" sz="1600" dirty="0">
                <a:latin typeface="Comic Sans MS" panose="030F0702030302020204" pitchFamily="66" charset="0"/>
              </a:rPr>
              <a:t>history of the testing </a:t>
            </a:r>
            <a:r>
              <a:rPr lang="en-US" sz="1600" dirty="0" smtClean="0">
                <a:latin typeface="Comic Sans MS" panose="030F0702030302020204" pitchFamily="66" charset="0"/>
              </a:rPr>
              <a:t>process</a:t>
            </a:r>
            <a:endParaRPr lang="en-US" sz="16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mic Sans MS" panose="030F0702030302020204" pitchFamily="66" charset="0"/>
              </a:rPr>
              <a:t>authorities and teams responsible in every </a:t>
            </a:r>
            <a:r>
              <a:rPr lang="en-US" sz="1600" dirty="0" smtClean="0">
                <a:latin typeface="Comic Sans MS" panose="030F0702030302020204" pitchFamily="66" charset="0"/>
              </a:rPr>
              <a:t>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mic Sans MS" panose="030F0702030302020204" pitchFamily="66" charset="0"/>
              </a:rPr>
              <a:t>components subjugated to the </a:t>
            </a:r>
            <a:r>
              <a:rPr lang="en-US" sz="1600" dirty="0" smtClean="0">
                <a:latin typeface="Comic Sans MS" panose="030F0702030302020204" pitchFamily="66" charset="0"/>
              </a:rPr>
              <a:t>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mic Sans MS" panose="030F0702030302020204" pitchFamily="66" charset="0"/>
              </a:rPr>
              <a:t>defects encountered for the first </a:t>
            </a:r>
            <a:r>
              <a:rPr lang="en-US" sz="1600" dirty="0" smtClean="0">
                <a:latin typeface="Comic Sans MS" panose="030F0702030302020204" pitchFamily="66" charset="0"/>
              </a:rPr>
              <a:t>time</a:t>
            </a:r>
            <a:r>
              <a:rPr lang="en-US" sz="1600" dirty="0">
                <a:latin typeface="Comic Sans MS" panose="030F0702030302020204" pitchFamily="66" charset="0"/>
              </a:rPr>
              <a:t> </a:t>
            </a:r>
            <a:endParaRPr lang="en-US" sz="1600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omic Sans MS" panose="030F0702030302020204" pitchFamily="66" charset="0"/>
              </a:rPr>
              <a:t>version </a:t>
            </a:r>
            <a:r>
              <a:rPr lang="en-US" sz="1600" dirty="0">
                <a:latin typeface="Comic Sans MS" panose="030F0702030302020204" pitchFamily="66" charset="0"/>
              </a:rPr>
              <a:t>and highlighting the changes chronologically is the most </a:t>
            </a:r>
            <a:r>
              <a:rPr lang="en-US" sz="1600" dirty="0" smtClean="0">
                <a:latin typeface="Comic Sans MS" panose="030F0702030302020204" pitchFamily="66" charset="0"/>
              </a:rPr>
              <a:t>crucial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omic Sans MS" panose="030F0702030302020204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Run tests automatically on Jenkins, GitHub Actions, or </a:t>
            </a:r>
            <a:r>
              <a:rPr lang="en-US" sz="1600" dirty="0" err="1">
                <a:latin typeface="Comic Sans MS" panose="030F0702030302020204" pitchFamily="66" charset="0"/>
              </a:rPr>
              <a:t>GitLab</a:t>
            </a:r>
            <a:r>
              <a:rPr lang="en-US" sz="1600" dirty="0">
                <a:latin typeface="Comic Sans MS" panose="030F0702030302020204" pitchFamily="66" charset="0"/>
              </a:rPr>
              <a:t> pipelines</a:t>
            </a:r>
            <a:r>
              <a:rPr lang="en-US" sz="1600" dirty="0" smtClean="0">
                <a:latin typeface="Comic Sans MS" panose="030F0702030302020204" pitchFamily="66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Trigger </a:t>
            </a:r>
            <a:r>
              <a:rPr lang="en-US" sz="1600" dirty="0" smtClean="0">
                <a:latin typeface="Comic Sans MS" panose="030F0702030302020204" pitchFamily="66" charset="0"/>
              </a:rPr>
              <a:t>Points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Stages in CD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1. Deploy Build to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QA → Staging →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5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key elements to an effective test automation strategy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086" b="11086"/>
          <a:stretch>
            <a:fillRect/>
          </a:stretch>
        </p:blipFill>
        <p:spPr>
          <a:xfrm>
            <a:off x="243840" y="116235"/>
            <a:ext cx="11007634" cy="521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69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76800" y="1149531"/>
            <a:ext cx="5029200" cy="5293604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omic Sans MS" panose="030F0702030302020204" pitchFamily="66" charset="0"/>
              </a:rPr>
              <a:t>Critical thinking make tester life easier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Manual Trigger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Local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omic Sans MS" panose="030F0702030302020204" pitchFamily="66" charset="0"/>
              </a:rPr>
              <a:t>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Comic Sans MS" panose="030F0702030302020204" pitchFamily="66" charset="0"/>
              </a:rPr>
              <a:t>CI/CD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Comic Sans MS" panose="030F0702030302020204" pitchFamily="66" charset="0"/>
              </a:rPr>
              <a:t>Databases</a:t>
            </a:r>
            <a:endParaRPr lang="en-US" sz="1800" b="1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 smtClean="0">
              <a:latin typeface="Comic Sans MS" panose="030F0702030302020204" pitchFamily="66" charset="0"/>
            </a:endParaRPr>
          </a:p>
          <a:p>
            <a:endParaRPr lang="en-US" sz="2400" b="1" dirty="0" smtClean="0">
              <a:latin typeface="Comic Sans MS" panose="030F0702030302020204" pitchFamily="66" charset="0"/>
            </a:endParaRP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09" y="2612408"/>
            <a:ext cx="1120760" cy="11207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40" y="2593970"/>
            <a:ext cx="2222375" cy="11576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786" y="852839"/>
            <a:ext cx="2248095" cy="13031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074" y="4613291"/>
            <a:ext cx="1382880" cy="13828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51" y="4188823"/>
            <a:ext cx="2831458" cy="6139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5461" y="2452664"/>
            <a:ext cx="2324301" cy="1257409"/>
          </a:xfrm>
          <a:prstGeom prst="rect">
            <a:avLst/>
          </a:prstGeom>
        </p:spPr>
      </p:pic>
      <p:sp>
        <p:nvSpPr>
          <p:cNvPr id="15" name="AutoShape 6" descr="Build Selenium Data-Driven Framework ..."/>
          <p:cNvSpPr>
            <a:spLocks noChangeAspect="1" noChangeArrowheads="1"/>
          </p:cNvSpPr>
          <p:nvPr/>
        </p:nvSpPr>
        <p:spPr bwMode="auto">
          <a:xfrm flipH="1" flipV="1">
            <a:off x="460374" y="160338"/>
            <a:ext cx="885099" cy="88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8" descr="Build Selenium Data-Driven Framework ..."/>
          <p:cNvSpPr>
            <a:spLocks noChangeAspect="1" noChangeArrowheads="1"/>
          </p:cNvSpPr>
          <p:nvPr/>
        </p:nvSpPr>
        <p:spPr bwMode="auto">
          <a:xfrm flipH="1" flipV="1">
            <a:off x="612774" y="312738"/>
            <a:ext cx="885099" cy="88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149" y="5124093"/>
            <a:ext cx="2278577" cy="128027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7828" y="2686896"/>
            <a:ext cx="1981372" cy="1478408"/>
          </a:xfrm>
          <a:prstGeom prst="rect">
            <a:avLst/>
          </a:prstGeom>
        </p:spPr>
      </p:pic>
      <p:sp>
        <p:nvSpPr>
          <p:cNvPr id="19" name="AutoShape 10" descr="NashTech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12" descr="Understanding Docker Images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416" y="755289"/>
            <a:ext cx="2286198" cy="128027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1293" y="5462149"/>
            <a:ext cx="2370025" cy="1234547"/>
          </a:xfrm>
          <a:prstGeom prst="rect">
            <a:avLst/>
          </a:prstGeom>
        </p:spPr>
      </p:pic>
      <p:sp>
        <p:nvSpPr>
          <p:cNvPr id="23" name="AutoShape 14" descr="Third Quarter Fiscal 2025 Financial Result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1250" y="4384501"/>
            <a:ext cx="2331922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0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691" y="-104503"/>
            <a:ext cx="10480113" cy="592183"/>
          </a:xfrm>
        </p:spPr>
        <p:txBody>
          <a:bodyPr/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Risk and Maintenance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5691" y="548639"/>
            <a:ext cx="11286309" cy="6309361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Analyze test-level </a:t>
            </a:r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risks for the organization &amp;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stakeholders to make informed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Regression averse </a:t>
            </a:r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strategy prominently focuses on eliminating the risks of regression in the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developed </a:t>
            </a:r>
            <a:r>
              <a:rPr lang="en-US" sz="5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testware</a:t>
            </a:r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can be re-used or periodically changed per the project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Product and failure risks involved with the system under test play a critical role in identifying the dimensions of the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strategy</a:t>
            </a:r>
            <a:endParaRPr lang="en-US" sz="56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Spending too much time testing components with little or no risk or bug likelihood is not the right </a:t>
            </a:r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approach</a:t>
            </a:r>
            <a:endParaRPr lang="en-US" sz="48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Weekly</a:t>
            </a:r>
          </a:p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Fix locators</a:t>
            </a:r>
          </a:p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Update flaky tests</a:t>
            </a:r>
          </a:p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Clean old </a:t>
            </a:r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Sprint-based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4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Add new </a:t>
            </a: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test </a:t>
            </a:r>
            <a:r>
              <a:rPr lang="en-US" sz="4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cases</a:t>
            </a:r>
          </a:p>
          <a:p>
            <a:r>
              <a:rPr lang="en-US" sz="4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Update </a:t>
            </a: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POM</a:t>
            </a:r>
          </a:p>
          <a:p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Add new </a:t>
            </a:r>
            <a:r>
              <a:rPr lang="en-US" sz="4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utilities</a:t>
            </a:r>
          </a:p>
          <a:p>
            <a:endParaRPr lang="en-US" sz="42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5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Monthly</a:t>
            </a:r>
            <a:endParaRPr lang="en-US" sz="56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Update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Tool</a:t>
            </a:r>
          </a:p>
          <a:p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Research on New AI and automation tool</a:t>
            </a:r>
            <a:endParaRPr lang="en-US" sz="56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Optimize CI time</a:t>
            </a:r>
          </a:p>
          <a:p>
            <a:r>
              <a:rPr lang="en-US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Remove deprecated </a:t>
            </a:r>
            <a:r>
              <a:rPr lang="en-US" sz="5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code</a:t>
            </a:r>
            <a:endParaRPr lang="en-US" sz="56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724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0"/>
            <a:ext cx="10097589" cy="722811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Manual Testing  Approach 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-1767840"/>
            <a:ext cx="12192000" cy="1767840"/>
          </a:xfrm>
        </p:spPr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7052" y="2098766"/>
            <a:ext cx="9662159" cy="55113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Follow </a:t>
            </a:r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 –1 Sprint Automation </a:t>
            </a:r>
            <a:r>
              <a:rPr 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Strategy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Write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detailed manual test case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s for all sprint user </a:t>
            </a:r>
            <a:r>
              <a:rPr lang="en-US" alt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stories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Execute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tests as soon as development completes each feature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Perform iterative testing throughout the sprint (build-by-build)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Log and track defects early, retest continuously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Conduct exploratory testing for edge cases and negative scenarios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Collaborate closely </a:t>
            </a:r>
            <a:r>
              <a:rPr lang="en-US" alt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with developers for fast feedback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Shift left testing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Use last </a:t>
            </a:r>
            <a:r>
              <a:rPr lang="en-US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2 days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of the sprint for full regression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Validate: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Critical flows (login, checkout, dashboard, etc.)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Integration between new &amp; existing features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Ensure product stability before release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Confirm readiness for </a:t>
            </a:r>
            <a:r>
              <a:rPr lang="en-US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stakeholders &amp; </a:t>
            </a:r>
            <a:r>
              <a:rPr lang="en-US" alt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customers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User AI tools that helps and facilitates to achieve your testing goals of sprint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200" dirty="0">
              <a:latin typeface="Comic Sans MS" panose="030F0702030302020204" pitchFamily="66" charset="0"/>
            </a:endParaRPr>
          </a:p>
          <a:p>
            <a:endParaRPr lang="en-US" b="1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369" y="2098766"/>
            <a:ext cx="4424182" cy="305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1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950" y="1288869"/>
            <a:ext cx="8106444" cy="3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866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163</TotalTime>
  <Words>615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Brush Script MT</vt:lpstr>
      <vt:lpstr>Calibri Light</vt:lpstr>
      <vt:lpstr>Comic Sans MS</vt:lpstr>
      <vt:lpstr>Wingdings</vt:lpstr>
      <vt:lpstr>Metropolitan</vt:lpstr>
      <vt:lpstr>Automation Testing strategy </vt:lpstr>
      <vt:lpstr>Automation defines how, when , why, who and where create test scripts</vt:lpstr>
      <vt:lpstr>Feasibility Analysis</vt:lpstr>
      <vt:lpstr>Who automate and selection of tool</vt:lpstr>
      <vt:lpstr>Types/Level of testing </vt:lpstr>
      <vt:lpstr>Test Design and execution </vt:lpstr>
      <vt:lpstr>Test Environments</vt:lpstr>
      <vt:lpstr>Release Control  &amp; CI/CD</vt:lpstr>
      <vt:lpstr>key elements to an effective test automation strategy</vt:lpstr>
      <vt:lpstr>PowerPoint Presentation</vt:lpstr>
      <vt:lpstr>Risk and Maintenance</vt:lpstr>
      <vt:lpstr>Manual Testing  Approach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Testing strategy </dc:title>
  <dc:creator>Hannan</dc:creator>
  <cp:lastModifiedBy>Hannan</cp:lastModifiedBy>
  <cp:revision>106</cp:revision>
  <dcterms:created xsi:type="dcterms:W3CDTF">2025-11-14T22:11:50Z</dcterms:created>
  <dcterms:modified xsi:type="dcterms:W3CDTF">2025-11-15T00:55:16Z</dcterms:modified>
</cp:coreProperties>
</file>